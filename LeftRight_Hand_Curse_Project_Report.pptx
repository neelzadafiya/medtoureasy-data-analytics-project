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Left-Handedness %</c:v>
                </c:pt>
              </c:strCache>
            </c:strRef>
          </c:tx>
          <c:spPr>
            <a:solidFill>
              <a:srgbClr val="028090"/>
            </a:solidFill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1900</c:v>
                  </c:pt>
                  <c:pt idx="1">
                    <c:v>1910</c:v>
                  </c:pt>
                  <c:pt idx="2">
                    <c:v>1920</c:v>
                  </c:pt>
                  <c:pt idx="3">
                    <c:v>1930</c:v>
                  </c:pt>
                  <c:pt idx="4">
                    <c:v>1940</c:v>
                  </c:pt>
                  <c:pt idx="5">
                    <c:v>1950</c:v>
                  </c:pt>
                  <c:pt idx="6">
                    <c:v>1960</c:v>
                  </c:pt>
                  <c:pt idx="7">
                    <c:v>1970</c:v>
                  </c:pt>
                  <c:pt idx="8">
                    <c:v>1975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3.2</c:v>
                </c:pt>
                <c:pt idx="2">
                  <c:v>4.5</c:v>
                </c:pt>
                <c:pt idx="3">
                  <c:v>5.8</c:v>
                </c:pt>
                <c:pt idx="4">
                  <c:v>7.2</c:v>
                </c:pt>
                <c:pt idx="5">
                  <c:v>9.1</c:v>
                </c:pt>
                <c:pt idx="6">
                  <c:v>10.8</c:v>
                </c:pt>
                <c:pt idx="7">
                  <c:v>12</c:v>
                </c:pt>
                <c:pt idx="8">
                  <c:v>12.3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Birth Year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% Left-Handed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Deaths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28000</c:v>
                </c:pt>
                <c:pt idx="1">
                  <c:v>7000</c:v>
                </c:pt>
                <c:pt idx="2">
                  <c:v>5500</c:v>
                </c:pt>
                <c:pt idx="3">
                  <c:v>8000</c:v>
                </c:pt>
                <c:pt idx="4">
                  <c:v>12000</c:v>
                </c:pt>
                <c:pt idx="5">
                  <c:v>20000</c:v>
                </c:pt>
                <c:pt idx="6">
                  <c:v>35000</c:v>
                </c:pt>
                <c:pt idx="7">
                  <c:v>55000</c:v>
                </c:pt>
                <c:pt idx="8">
                  <c:v>72000</c:v>
                </c:pt>
                <c:pt idx="9">
                  <c:v>45000</c:v>
                </c:pt>
                <c:pt idx="10">
                  <c:v>8000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Left-Handed</c:v>
                </c:pt>
              </c:strCache>
            </c:strRef>
          </c:tx>
          <c:spPr>
            <a:solidFill>
              <a:srgbClr val="E84855"/>
            </a:solidFill>
            <a:ln w="38100" cap="flat">
              <a:solidFill>
                <a:srgbClr val="E848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4855"/>
              </a:solidFill>
              <a:ln w="9525" cap="flat">
                <a:solidFill>
                  <a:srgbClr val="E848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  <c:pt idx="5">
                    <c:v>60</c:v>
                  </c:pt>
                  <c:pt idx="6">
                    <c:v>70</c:v>
                  </c:pt>
                  <c:pt idx="7">
                    <c:v>80</c:v>
                  </c:pt>
                  <c:pt idx="8">
                    <c:v>90</c:v>
                  </c:pt>
                  <c:pt idx="9">
                    <c:v>100</c:v>
                  </c:pt>
                  <c:pt idx="10">
                    <c:v>110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0.001</c:v>
                </c:pt>
                <c:pt idx="1">
                  <c:v>0.002</c:v>
                </c:pt>
                <c:pt idx="2">
                  <c:v>0.004</c:v>
                </c:pt>
                <c:pt idx="3">
                  <c:v>0.007</c:v>
                </c:pt>
                <c:pt idx="4">
                  <c:v>0.012</c:v>
                </c:pt>
                <c:pt idx="5">
                  <c:v>0.018</c:v>
                </c:pt>
                <c:pt idx="6">
                  <c:v>0.022</c:v>
                </c:pt>
                <c:pt idx="7">
                  <c:v>0.019</c:v>
                </c:pt>
                <c:pt idx="8">
                  <c:v>0.01</c:v>
                </c:pt>
                <c:pt idx="9">
                  <c:v>0.003</c:v>
                </c:pt>
                <c:pt idx="10">
                  <c:v>0.001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Right-Handed</c:v>
                </c:pt>
              </c:strCache>
            </c:strRef>
          </c:tx>
          <c:spPr>
            <a:solidFill>
              <a:srgbClr val="028090"/>
            </a:solidFill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  <c:pt idx="5">
                    <c:v>60</c:v>
                  </c:pt>
                  <c:pt idx="6">
                    <c:v>70</c:v>
                  </c:pt>
                  <c:pt idx="7">
                    <c:v>80</c:v>
                  </c:pt>
                  <c:pt idx="8">
                    <c:v>90</c:v>
                  </c:pt>
                  <c:pt idx="9">
                    <c:v>100</c:v>
                  </c:pt>
                  <c:pt idx="10">
                    <c:v>110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0.001</c:v>
                </c:pt>
                <c:pt idx="1">
                  <c:v>0.001</c:v>
                </c:pt>
                <c:pt idx="2">
                  <c:v>0.003</c:v>
                </c:pt>
                <c:pt idx="3">
                  <c:v>0.006</c:v>
                </c:pt>
                <c:pt idx="4">
                  <c:v>0.01</c:v>
                </c:pt>
                <c:pt idx="5">
                  <c:v>0.016</c:v>
                </c:pt>
                <c:pt idx="6">
                  <c:v>0.024</c:v>
                </c:pt>
                <c:pt idx="7">
                  <c:v>0.028</c:v>
                </c:pt>
                <c:pt idx="8">
                  <c:v>0.014</c:v>
                </c:pt>
                <c:pt idx="9">
                  <c:v>0.004</c:v>
                </c:pt>
                <c:pt idx="10">
                  <c:v>0.001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274320"/>
            <a:ext cx="2286000" cy="2286000"/>
          </a:xfrm>
          <a:prstGeom prst="ellipse">
            <a:avLst/>
          </a:prstGeom>
          <a:solidFill>
            <a:srgbClr val="E84855">
              <a:alpha val="20000"/>
            </a:srgbClr>
          </a:solidFill>
          <a:ln w="12700">
            <a:solidFill>
              <a:srgbClr val="E8485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2926080" cy="32004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 MedTourEasy Traineeship Project Report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Left-Hander's Curse: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Debunking a Statistical Myth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Bayesian Statistics to Separate Fact from Fiction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434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Intern: Neel Zadafiya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Data Analytics Trainee  |  MedTourEasy  |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 &amp; The Question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926080" cy="2926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age gap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200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(original 1991 study)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1005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14173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MedTourEasy (Global Tele-medicine &amp; Healthcare Provider)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whether left-handed people genuinely die younger than right-handed people — or whether this is a statistical artifact that healthcare analysts must learn to identify.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0" y="3337560"/>
            <a:ext cx="2377440" cy="1005840"/>
          </a:xfrm>
          <a:prstGeom prst="rect">
            <a:avLst/>
          </a:prstGeom>
          <a:solidFill>
            <a:srgbClr val="FFF0F0"/>
          </a:solidFill>
          <a:ln w="19050">
            <a:solidFill>
              <a:srgbClr val="E848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33375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A
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disadvantage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3337560"/>
            <a:ext cx="2468880" cy="1005840"/>
          </a:xfrm>
          <a:prstGeom prst="rect">
            <a:avLst/>
          </a:prstGeom>
          <a:solidFill>
            <a:srgbClr val="F0FFF8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3375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B
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illusion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the Analysis: 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approach to transform raw survey data into Bayesian probability insights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554480" cy="3200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371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2514600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1986 National Geographic handedness survey + 1999 US death distribution data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47088" y="2834640"/>
            <a:ext cx="1371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1280160"/>
            <a:ext cx="1554480" cy="3200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1371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011680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84832" y="2514600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age → birth year, calculate mean left-handedness across genders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84448" y="2834640"/>
            <a:ext cx="1371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1280160"/>
            <a:ext cx="155448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49040" y="1371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749040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Model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22192" y="2514600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P(LH|A) function — probability of left-handedness given age at death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21808" y="2834640"/>
            <a:ext cx="1371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1280160"/>
            <a:ext cx="155448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0" y="1371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486400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Bayes' Theorem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59552" y="2514600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P(A|LH) and P(A|RH) — death age distributions per handedness group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59168" y="2834640"/>
            <a:ext cx="1371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0" y="1280160"/>
            <a:ext cx="1554480" cy="32004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23760" y="1371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7223760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&amp; Conclusion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96912" y="2514600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1990 vs 2018 study years to prove the gap is a demographic artifact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Python  |  Pandas  |  NumPy  |  Matplotlib  |  Google Colab  |  Bayesian Statistics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&amp; Understanding the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931920" cy="3474720"/>
          </a:xfrm>
          <a:prstGeom prst="rect">
            <a:avLst/>
          </a:prstGeom>
          <a:solidFill>
            <a:srgbClr val="F0F4F8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39319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1 — Handedness Survey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Geographic (1986)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Male %, Female %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Left-handedness rates rose from ~3% (born 1900) to ~12% (born 1970) — purely due to changing social acceptance.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with: 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pd.read_csv(url)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931920" cy="3474720"/>
          </a:xfrm>
          <a:prstGeom prst="rect">
            <a:avLst/>
          </a:prstGeom>
          <a:solidFill>
            <a:srgbClr val="F0F4F8"/>
          </a:solidFill>
          <a:ln w="25400">
            <a:solidFill>
              <a:srgbClr val="E848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3931920" cy="4572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2 — US Death Distribution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73736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United States (1999)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Both Sexes, Male, Female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deaths peak at age ~80. This creates the mathematical weight needed for realistic Bayesian calculations.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with: 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dropna(), sep='\t'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1: Left-Handedness Rates Changed Over Generations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6868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914400"/>
            <a:ext cx="2834640" cy="1051560"/>
          </a:xfrm>
          <a:prstGeom prst="rect">
            <a:avLst/>
          </a:prstGeom>
          <a:solidFill>
            <a:srgbClr val="F0F4F8"/>
          </a:solidFill>
          <a:ln w="25400">
            <a:solidFill>
              <a:srgbClr val="E848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89320" y="960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903720" y="1005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1900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90372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pressure forced right-hand use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0" y="2194560"/>
            <a:ext cx="2834640" cy="1051560"/>
          </a:xfrm>
          <a:prstGeom prst="rect">
            <a:avLst/>
          </a:prstGeom>
          <a:solidFill>
            <a:srgbClr val="F0F4F8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89320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690372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1970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903720" y="2606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grew — true rates revealed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0" y="3474720"/>
            <a:ext cx="2834640" cy="1051560"/>
          </a:xfrm>
          <a:prstGeom prst="rect">
            <a:avLst/>
          </a:prstGeom>
          <a:solidFill>
            <a:srgbClr val="F0F4F8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89320" y="3520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903720" y="3566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903720" y="3886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just 60 years — purely social change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solidFill>
            <a:srgbClr val="EB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Genetics did NOT change. Society did. This is the first clue that the curse is a data ghost.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2: Most Deaths Happen at Older Ages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6868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914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852160" y="13258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peak at age ~80. This means people dying at 80 in 1990 were born around 1910 — an era of extreme left-handedness suppression (~3%).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852160" y="2560320"/>
            <a:ext cx="2926080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0" y="3017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saw few left-handers in the 80-year-old group and concluded they must have died young. But they were born in an era when left-handedness was hidden!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clues identified. Now: use Bayesian statistics to quantify the illusion.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Bayesian Framework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functions built to solve the mystery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 | LH)  =  P(LH | A)  ×  P(A)  /  P(LH)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651760" cy="2560320"/>
          </a:xfrm>
          <a:prstGeom prst="rect">
            <a:avLst/>
          </a:prstGeom>
          <a:solidFill>
            <a:srgbClr val="0A1628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94560"/>
            <a:ext cx="26517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P(LH | A)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24688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being left-handed given age at death. Uses birth year to look up historical left-handedness rate for that era.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2194560"/>
            <a:ext cx="2651760" cy="2560320"/>
          </a:xfrm>
          <a:prstGeom prst="rect">
            <a:avLst/>
          </a:prstGeom>
          <a:solidFill>
            <a:srgbClr val="0A1628"/>
          </a:solidFill>
          <a:ln w="19050">
            <a:solidFill>
              <a:srgbClr val="E848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2194560"/>
            <a:ext cx="2651760" cy="50292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P(LH)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2514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834640"/>
            <a:ext cx="24688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probability of being left-handed in the deceased population. Weighted average accounting for actual death counts at each age.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194560"/>
            <a:ext cx="2651760" cy="2560320"/>
          </a:xfrm>
          <a:prstGeom prst="rect">
            <a:avLst/>
          </a:prstGeom>
          <a:solidFill>
            <a:srgbClr val="0A1628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194560"/>
            <a:ext cx="265176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 | LH)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2514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6 &amp; 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834640"/>
            <a:ext cx="24688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flipped — probability of dying at age A given handedness. Built separately for left and right-handers for comparison.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Visualization: Death Age Distribution by Handedness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486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914400"/>
            <a:ext cx="2743200" cy="1371600"/>
          </a:xfrm>
          <a:prstGeom prst="rect">
            <a:avLst/>
          </a:prstGeom>
          <a:solidFill>
            <a:srgbClr val="FFF0F0"/>
          </a:solidFill>
          <a:ln w="19050">
            <a:solidFill>
              <a:srgbClr val="E848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0" y="914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Left-Handers
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earlier (~age 67)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to die younger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035040" y="2423160"/>
            <a:ext cx="2743200" cy="1371600"/>
          </a:xfrm>
          <a:prstGeom prst="rect">
            <a:avLst/>
          </a:prstGeom>
          <a:solidFill>
            <a:srgbClr val="F0FFF8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0" y="24231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Right-Handers
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later (~age 75)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to live longer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35040" y="3886200"/>
            <a:ext cx="27432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5040" y="38862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year apparent gap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(1990 study year)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of Truth: The Numbers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average age at death — 1990 study year vs 2018 study year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93192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3931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YEAR: 1990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~67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Left-Handers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8288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228600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Right-Handers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3566160" cy="822960"/>
          </a:xfrm>
          <a:prstGeom prst="rect">
            <a:avLst/>
          </a:prstGeom>
          <a:solidFill>
            <a:srgbClr val="E84855">
              <a:alpha val="15000"/>
            </a:srgbClr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461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~8 years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4069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(Scary! Matches original myth)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188720"/>
            <a:ext cx="393192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188720"/>
            <a:ext cx="39319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188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YEAR: 2018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18288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493776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Left-Handers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20840" y="18288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672084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2084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Right-Handers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3246120"/>
            <a:ext cx="3566160" cy="822960"/>
          </a:xfrm>
          <a:prstGeom prst="rect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2461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~0 years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29200" y="4069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(Curse completely disappears!)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200400"/>
            <a:ext cx="3200400" cy="32004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457200"/>
            <a:ext cx="2286000" cy="2286000"/>
          </a:xfrm>
          <a:prstGeom prst="ellipse">
            <a:avLst/>
          </a:prstGeom>
          <a:solidFill>
            <a:srgbClr val="E84855">
              <a:alpha val="15000"/>
            </a:srgbClr>
          </a:solidFill>
          <a:ln w="12700">
            <a:solidFill>
              <a:srgbClr val="E84855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Curse Officially Broken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No. Left-handed people do NOT die younger. The gap is a demographic artifact — a ghost in the data.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560320" cy="2468880"/>
          </a:xfrm>
          <a:prstGeom prst="rect">
            <a:avLst/>
          </a:prstGeom>
          <a:solidFill>
            <a:srgbClr val="0A1628"/>
          </a:solidFill>
          <a:ln w="19050">
            <a:solidFill>
              <a:srgbClr val="E848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659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≠ Causation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showed a real correlation — but the cause was social history, not biology.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920240"/>
            <a:ext cx="2560320" cy="2468880"/>
          </a:xfrm>
          <a:prstGeom prst="rect">
            <a:avLst/>
          </a:prstGeom>
          <a:solidFill>
            <a:srgbClr val="0A1628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659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8328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Everything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31089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was hidden in 20th century social norms around left-handedness, not in human physiology.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920240"/>
            <a:ext cx="2560320" cy="2468880"/>
          </a:xfrm>
          <a:prstGeom prst="rect">
            <a:avLst/>
          </a:prstGeom>
          <a:solidFill>
            <a:srgbClr val="0A1628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9659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1792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How Data Was Created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31089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Left-handedness was suppressed in surveys — which is why fewer old people identified as left-handed.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to MedTourEasy: Distinguishing genuine health risk factors from statistical artifacts is critical for accurate healthcare capacity planning and patient outcome forecasting.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Left-Handers Curse - A Data Analytics Journey</dc:title>
  <dc:subject>PptxGenJS Presentation</dc:subject>
  <dc:creator>Neel Zadafiya</dc:creator>
  <cp:lastModifiedBy>Neel Zadafiya</cp:lastModifiedBy>
  <cp:revision>1</cp:revision>
  <dcterms:created xsi:type="dcterms:W3CDTF">2026-04-18T18:14:46Z</dcterms:created>
  <dcterms:modified xsi:type="dcterms:W3CDTF">2026-04-18T18:14:46Z</dcterms:modified>
</cp:coreProperties>
</file>